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  <p:sldMasterId id="2147483695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y="51435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F21FC2-BF0E-4ABD-AF3B-DCA8FC469D27}">
  <a:tblStyle styleId="{94F21FC2-BF0E-4ABD-AF3B-DCA8FC469D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b10573b6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3b10573b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0d7ffbd1c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a0d7ffbd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b0d6484b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3b0d6484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474df982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9474df98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8be82b48a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8be82b4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8be82b48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8be82b48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8be82b48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98be82b48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8be82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98be82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quangbut/vietnamese-legal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uggingface.co/intfloat/multilingual-e5-large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arxiv.org/pdf/2402.0567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s://huggingface.co/Qwen/Qwen2.5-3B" TargetMode="External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611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Project 3: Law-based and document-based chatbot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3670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{94F21FC2-BF0E-4ABD-AF3B-DCA8FC469D27}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1556500"/>
            <a:ext cx="3022049" cy="30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28500" y="943550"/>
            <a:ext cx="8596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Topic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Framework and Tools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Completed progress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4. Upcoming Work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28500" y="1006525"/>
            <a:ext cx="86034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800"/>
              <a:t>Purpose: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Propose the use of vector database (RAG) and LLM system for helping answer user queries.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Two specific tasks: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references laws.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a document.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800"/>
              <a:t>- Build the interactive interface that user can communicate with the chatbot.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vi" sz="1800"/>
              <a:t>- Final output: Simulate multi-agent AI for improving the accuracy of answers.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Framework and Tools:</a:t>
            </a:r>
            <a:endParaRPr/>
          </a:p>
        </p:txBody>
      </p:sp>
      <p:sp>
        <p:nvSpPr>
          <p:cNvPr id="224" name="Google Shape;224;p54"/>
          <p:cNvSpPr txBox="1"/>
          <p:nvPr/>
        </p:nvSpPr>
        <p:spPr>
          <a:xfrm>
            <a:off x="1623150" y="603975"/>
            <a:ext cx="55095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4"/>
          <p:cNvSpPr txBox="1"/>
          <p:nvPr/>
        </p:nvSpPr>
        <p:spPr>
          <a:xfrm>
            <a:off x="228500" y="847800"/>
            <a:ext cx="86034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1"/>
                </a:solidFill>
              </a:rPr>
              <a:t>2.1. Proposed framework: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RAG: Faiss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LLM: HuggingFace + Langchain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UI: Streamlit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1"/>
                </a:solidFill>
              </a:rPr>
              <a:t>2.2. Data source: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Vietnamese Laws: </a:t>
            </a:r>
            <a:r>
              <a:rPr lang="vi" sz="1500" u="sng">
                <a:solidFill>
                  <a:schemeClr val="hlink"/>
                </a:solidFill>
                <a:hlinkClick r:id="rId3"/>
              </a:rPr>
              <a:t>Vietnam Legal Dataset - kaggle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Contains 700000 laws, each includes: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 Id: id of the laws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Title: name of the laws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Context: Content of the laws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226" name="Google Shape;22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138" y="3270925"/>
            <a:ext cx="66579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4"/>
          <p:cNvSpPr txBox="1"/>
          <p:nvPr/>
        </p:nvSpPr>
        <p:spPr>
          <a:xfrm>
            <a:off x="3368850" y="4421625"/>
            <a:ext cx="2752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Example of  1 sample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Framework and Tools:</a:t>
            </a:r>
            <a:endParaRPr/>
          </a:p>
        </p:txBody>
      </p:sp>
      <p:pic>
        <p:nvPicPr>
          <p:cNvPr id="233" name="Google Shape;233;p55" title="Project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200" y="631650"/>
            <a:ext cx="7974799" cy="39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  <p:sp>
        <p:nvSpPr>
          <p:cNvPr id="239" name="Google Shape;239;p56"/>
          <p:cNvSpPr txBox="1"/>
          <p:nvPr/>
        </p:nvSpPr>
        <p:spPr>
          <a:xfrm>
            <a:off x="228500" y="706175"/>
            <a:ext cx="88239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 IVF+PQ: a combination of vector quantization and vector partition techniques for optimizing </a:t>
            </a:r>
            <a:r>
              <a:rPr lang="vi" sz="1500"/>
              <a:t>queries’</a:t>
            </a:r>
            <a:r>
              <a:rPr lang="vi" sz="1500"/>
              <a:t> search time but still ensure the efficient.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0" name="Google Shape;24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38" y="1816725"/>
            <a:ext cx="3268724" cy="19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6"/>
          <p:cNvSpPr txBox="1"/>
          <p:nvPr/>
        </p:nvSpPr>
        <p:spPr>
          <a:xfrm>
            <a:off x="0" y="3892700"/>
            <a:ext cx="489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IVF Technique</a:t>
            </a:r>
            <a:endParaRPr sz="13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 Youtube: Similarity Search and Faiss Course</a:t>
            </a:r>
            <a:endParaRPr sz="1300"/>
          </a:p>
        </p:txBody>
      </p:sp>
      <p:pic>
        <p:nvPicPr>
          <p:cNvPr id="242" name="Google Shape;24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600" y="1800988"/>
            <a:ext cx="3939600" cy="19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6"/>
          <p:cNvSpPr txBox="1"/>
          <p:nvPr/>
        </p:nvSpPr>
        <p:spPr>
          <a:xfrm>
            <a:off x="4362375" y="3892700"/>
            <a:ext cx="489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Product Quantization</a:t>
            </a:r>
            <a:endParaRPr sz="13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Medium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7"/>
          <p:cNvSpPr txBox="1"/>
          <p:nvPr/>
        </p:nvSpPr>
        <p:spPr>
          <a:xfrm>
            <a:off x="228500" y="706175"/>
            <a:ext cx="88239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 </a:t>
            </a:r>
            <a:r>
              <a:rPr lang="vi" sz="1500"/>
              <a:t>Reciprocal</a:t>
            </a:r>
            <a:r>
              <a:rPr lang="vi" sz="1500"/>
              <a:t> Ranking Fusion: a fusion technique that combines ranking results from multiple retrievers to improve the accuracy of query results 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50" name="Google Shape;25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950" y="1796250"/>
            <a:ext cx="5415800" cy="27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7"/>
          <p:cNvSpPr txBox="1"/>
          <p:nvPr/>
        </p:nvSpPr>
        <p:spPr>
          <a:xfrm>
            <a:off x="4076863" y="4498575"/>
            <a:ext cx="189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Source: Viblo</a:t>
            </a:r>
            <a:endParaRPr/>
          </a:p>
        </p:txBody>
      </p:sp>
      <p:sp>
        <p:nvSpPr>
          <p:cNvPr id="252" name="Google Shape;252;p57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8"/>
          <p:cNvSpPr txBox="1"/>
          <p:nvPr/>
        </p:nvSpPr>
        <p:spPr>
          <a:xfrm>
            <a:off x="228500" y="603925"/>
            <a:ext cx="88239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Embedding model: </a:t>
            </a:r>
            <a:r>
              <a:rPr lang="vi" sz="1500" u="sng">
                <a:solidFill>
                  <a:schemeClr val="hlink"/>
                </a:solidFill>
                <a:hlinkClick r:id="rId3"/>
              </a:rPr>
              <a:t>huggingface.co/intfloat/multilingual-e5-large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Reason used: With 1014-dimensional embeddings, it provides high-quality, multilingual sentence embeddings that capture semantic similarity across many languages, especially in Vietnamese. E5-large embedding is also trained from different sources which makes it a high </a:t>
            </a:r>
            <a:r>
              <a:rPr lang="vi" sz="1500"/>
              <a:t>capability</a:t>
            </a:r>
            <a:r>
              <a:rPr lang="vi" sz="1500"/>
              <a:t> for future expansion.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8" name="Google Shape;25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4525" y="2139863"/>
            <a:ext cx="28098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8"/>
          <p:cNvSpPr txBox="1"/>
          <p:nvPr/>
        </p:nvSpPr>
        <p:spPr>
          <a:xfrm>
            <a:off x="2859125" y="4349250"/>
            <a:ext cx="5060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Data source to train e5-large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</a:t>
            </a:r>
            <a:r>
              <a:rPr lang="vi" sz="1300" u="sng">
                <a:solidFill>
                  <a:schemeClr val="hlink"/>
                </a:solidFill>
                <a:hlinkClick r:id="rId5"/>
              </a:rPr>
              <a:t>Multilingual E5 Text Embeddings: A Technical Report</a:t>
            </a:r>
            <a:r>
              <a:rPr lang="vi" sz="1300"/>
              <a:t> </a:t>
            </a:r>
            <a:endParaRPr sz="1300"/>
          </a:p>
        </p:txBody>
      </p:sp>
      <p:sp>
        <p:nvSpPr>
          <p:cNvPr id="260" name="Google Shape;260;p58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9"/>
          <p:cNvSpPr txBox="1"/>
          <p:nvPr/>
        </p:nvSpPr>
        <p:spPr>
          <a:xfrm>
            <a:off x="228500" y="706175"/>
            <a:ext cx="4167900" cy="3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3.2. LLM: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Proposed model: </a:t>
            </a:r>
            <a:r>
              <a:rPr lang="vi" sz="1500" u="sng">
                <a:solidFill>
                  <a:schemeClr val="hlink"/>
                </a:solidFill>
                <a:hlinkClick r:id="rId4"/>
              </a:rPr>
              <a:t>https://huggingface.co/Qwen/Qwen2.5-1.5B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An open-source QWEN large language model containing 1.5 billions parameters.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Reason used: efficient for chatbot implementation and support Vietnamese.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67" name="Google Shape;26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375" y="577025"/>
            <a:ext cx="3693426" cy="4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9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0"/>
          <p:cNvSpPr txBox="1"/>
          <p:nvPr/>
        </p:nvSpPr>
        <p:spPr>
          <a:xfrm>
            <a:off x="228500" y="706175"/>
            <a:ext cx="47814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3.3. UI by Streamlit: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Make a new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Rename a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Delete a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Option: Upload pdf documents for chatbot to answer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5" name="Google Shape;275;p60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  <p:pic>
        <p:nvPicPr>
          <p:cNvPr id="276" name="Google Shape;27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750" y="2508875"/>
            <a:ext cx="4905032" cy="23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1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Upcoming Work</a:t>
            </a:r>
            <a:endParaRPr/>
          </a:p>
        </p:txBody>
      </p:sp>
      <p:pic>
        <p:nvPicPr>
          <p:cNvPr id="282" name="Google Shape;2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1"/>
          <p:cNvSpPr txBox="1"/>
          <p:nvPr/>
        </p:nvSpPr>
        <p:spPr>
          <a:xfrm>
            <a:off x="255675" y="857250"/>
            <a:ext cx="86928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</a:t>
            </a:r>
            <a:r>
              <a:rPr lang="vi" sz="1600"/>
              <a:t>Fine Tune</a:t>
            </a:r>
            <a:r>
              <a:rPr lang="vi" sz="1600"/>
              <a:t> the LLM with Q&amp;A dataset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Transform to a multi-agent system: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Router Agent:</a:t>
            </a:r>
            <a:r>
              <a:rPr lang="vi" sz="1600"/>
              <a:t> define the types of queries.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Law Agent:</a:t>
            </a:r>
            <a:r>
              <a:rPr lang="vi" sz="1600"/>
              <a:t> answer users queries based on references laws.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Document Agent:</a:t>
            </a:r>
            <a:r>
              <a:rPr lang="vi" sz="1600"/>
              <a:t> answer users queries based on documents.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Verifier Agent: </a:t>
            </a:r>
            <a:r>
              <a:rPr lang="vi" sz="1600"/>
              <a:t>verifies</a:t>
            </a:r>
            <a:r>
              <a:rPr lang="vi" sz="1600"/>
              <a:t> </a:t>
            </a:r>
            <a:r>
              <a:rPr lang="vi" sz="1600"/>
              <a:t>outputs</a:t>
            </a:r>
            <a:r>
              <a:rPr lang="vi" sz="1600"/>
              <a:t> of others agent to give the final answer.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=&gt; Try to fine-tune. If not, find the suitable fine-tuned Adapters in HuggingFace.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2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