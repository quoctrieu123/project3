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5"/>
    <p:sldMasterId id="2147483694" r:id="rId6"/>
    <p:sldMasterId id="2147483695" r:id="rId7"/>
    <p:sldMasterId id="214748369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y="5143500" cx="9144000"/>
  <p:notesSz cx="6858000" cy="9144000"/>
  <p:embeddedFontLs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3F5DAE-229D-4FBF-AE9A-BD76FE6F4640}">
  <a:tblStyle styleId="{CF3F5DAE-229D-4FBF-AE9A-BD76FE6F46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F3CC54F-9BF7-4BD9-800E-20141BBD059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b06e89109_2_5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3b06e89109_2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b06e89109_2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3b06e89109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b06e89109_2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3b06e89109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b06e89109_2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3b06e89109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0d7ffbd1c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a0d7ffbd1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3b10573b66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3b10573b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55d699f9e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a55d699f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55d699f9e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a55d699f9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55d699f9e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a55d699f9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55d699f9e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a55d699f9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55d699f9e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a55d699f9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55d699f9e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a55d699f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69e49eef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a69e49ee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8be82b48a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98be82b4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b06e89109_2_26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3b06e89109_2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32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3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4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44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4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45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4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45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46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46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46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47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47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48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48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48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48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49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49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49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49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49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49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5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254070" y="794070"/>
            <a:ext cx="8635680" cy="36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type="title"/>
          </p:nvPr>
        </p:nvSpPr>
        <p:spPr>
          <a:xfrm>
            <a:off x="254070" y="84510"/>
            <a:ext cx="863568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kaggle.com/datasets/quangbut/vietnamese-legal?select=sent_truncated_dvc_train.csv" TargetMode="External"/><Relationship Id="rId4" Type="http://schemas.openxmlformats.org/officeDocument/2006/relationships/hyperlink" Target="https://huggingface.co/datasets/taidng/UIT-ViQuAD2.0/viewer/default/train?views%5B%5D=train" TargetMode="External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kaggle.com/datasets/quangbut/vietnamese-legal?select=sent_truncated_dvc_train.csv" TargetMode="External"/><Relationship Id="rId4" Type="http://schemas.openxmlformats.org/officeDocument/2006/relationships/hyperlink" Target="https://huggingface.co/datasets/taidng/UIT-ViQuAD2.0/viewer/default/train?views%5B%5D=train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1"/>
          <p:cNvSpPr txBox="1"/>
          <p:nvPr/>
        </p:nvSpPr>
        <p:spPr>
          <a:xfrm>
            <a:off x="367050" y="826950"/>
            <a:ext cx="86115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3200">
                <a:solidFill>
                  <a:srgbClr val="C00000"/>
                </a:solidFill>
              </a:rPr>
              <a:t>Project 3: Law-based and document-based chatbot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51"/>
          <p:cNvGraphicFramePr/>
          <p:nvPr/>
        </p:nvGraphicFramePr>
        <p:xfrm>
          <a:off x="367050" y="237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{CF3F5DAE-229D-4FBF-AE9A-BD76FE6F4640}</a:tableStyleId>
              </a:tblPr>
              <a:tblGrid>
                <a:gridCol w="1791975"/>
                <a:gridCol w="179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Trieu Kinh Quoc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20225524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025" y="1556500"/>
            <a:ext cx="3022049" cy="302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Table of contents</a:t>
            </a:r>
            <a:endParaRPr/>
          </a:p>
        </p:txBody>
      </p:sp>
      <p:sp>
        <p:nvSpPr>
          <p:cNvPr id="212" name="Google Shape;212;p52"/>
          <p:cNvSpPr txBox="1"/>
          <p:nvPr/>
        </p:nvSpPr>
        <p:spPr>
          <a:xfrm>
            <a:off x="228500" y="943550"/>
            <a:ext cx="85965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1. Topic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2. Updated Progress</a:t>
            </a:r>
            <a:endParaRPr sz="2600"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3. Upcoming Work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Topic</a:t>
            </a:r>
            <a:endParaRPr/>
          </a:p>
        </p:txBody>
      </p:sp>
      <p:sp>
        <p:nvSpPr>
          <p:cNvPr id="218" name="Google Shape;218;p53"/>
          <p:cNvSpPr txBox="1"/>
          <p:nvPr/>
        </p:nvSpPr>
        <p:spPr>
          <a:xfrm>
            <a:off x="228500" y="1006525"/>
            <a:ext cx="8603400" cy="3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" sz="1800"/>
              <a:t>Purpose: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" sz="1800"/>
              <a:t>- Propose the use of vector database (RAG) and LLM system for helping answer user queries.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" sz="1800"/>
              <a:t>- Two specific tasks:</a:t>
            </a:r>
            <a:endParaRPr sz="1800"/>
          </a:p>
          <a:p>
            <a:pPr indent="-34290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vi" sz="1800"/>
              <a:t>Answer user’s query based on references laws.</a:t>
            </a:r>
            <a:endParaRPr sz="1800"/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" sz="1800"/>
              <a:t>Answer user’s query based on a document.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vi" sz="1800"/>
              <a:t>- Build the interactive interface that user can communicate with the chatbot.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vi" sz="1800"/>
              <a:t>- Final output: Simulate multi-agent AI for improving the accuracy of answers.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54" title="Project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00" y="672350"/>
            <a:ext cx="7974799" cy="39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4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Topic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5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pic>
        <p:nvPicPr>
          <p:cNvPr id="230" name="Google Shape;23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8050" y="622625"/>
            <a:ext cx="6335950" cy="34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5"/>
          <p:cNvSpPr txBox="1"/>
          <p:nvPr/>
        </p:nvSpPr>
        <p:spPr>
          <a:xfrm>
            <a:off x="165150" y="865125"/>
            <a:ext cx="2516700" cy="18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Tried 4 different techniques for improving the router: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Simple keyword based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Prompt-based selection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Classifier based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Embedding similarity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6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37" name="Google Shape;237;p56"/>
          <p:cNvSpPr txBox="1"/>
          <p:nvPr/>
        </p:nvSpPr>
        <p:spPr>
          <a:xfrm>
            <a:off x="165150" y="865125"/>
            <a:ext cx="8800500" cy="3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2.1. Router by simple keyword matching based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- Idea:</a:t>
            </a:r>
            <a:r>
              <a:rPr lang="vi"/>
              <a:t> Depends on specific keywords in query, destinate to suitable route.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Implementation: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Two list of keywords: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vi"/>
              <a:t>documents keywords</a:t>
            </a:r>
            <a:r>
              <a:rPr lang="vi"/>
              <a:t>: ["văn bản", "tài liệu", "file", "đoạn văn", "bài viết"]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vi"/>
              <a:t>law</a:t>
            </a:r>
            <a:r>
              <a:rPr lang="vi"/>
              <a:t>s keywords</a:t>
            </a:r>
            <a:r>
              <a:rPr lang="vi"/>
              <a:t>: ["luật", "điều", "mức phạt", "theo pháp luật", "quốc hội", "hành vi"]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If query contains any keywords belong to specific route, it will be </a:t>
            </a:r>
            <a:r>
              <a:rPr lang="vi"/>
              <a:t>destined</a:t>
            </a:r>
            <a:r>
              <a:rPr lang="vi"/>
              <a:t> to this route. If not, if at least a file is uploaded by the user, it will route to </a:t>
            </a:r>
            <a:r>
              <a:rPr b="1" lang="vi"/>
              <a:t>“documents”</a:t>
            </a:r>
            <a:r>
              <a:rPr lang="vi"/>
              <a:t>, otherwise </a:t>
            </a:r>
            <a:r>
              <a:rPr b="1" lang="vi"/>
              <a:t>“extract_laws”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7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43" name="Google Shape;243;p57"/>
          <p:cNvSpPr txBox="1"/>
          <p:nvPr/>
        </p:nvSpPr>
        <p:spPr>
          <a:xfrm>
            <a:off x="171750" y="706175"/>
            <a:ext cx="8800500" cy="18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2.2. Router by classifier based: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- Idea:</a:t>
            </a:r>
            <a:r>
              <a:rPr lang="vi"/>
              <a:t> Train a small neural network model that classifies into 2 class: </a:t>
            </a:r>
            <a:r>
              <a:rPr b="1" lang="vi"/>
              <a:t>extract_laws</a:t>
            </a:r>
            <a:r>
              <a:rPr lang="vi"/>
              <a:t> or </a:t>
            </a:r>
            <a:r>
              <a:rPr b="1" lang="vi"/>
              <a:t>documents</a:t>
            </a:r>
            <a:r>
              <a:rPr lang="vi"/>
              <a:t> based on </a:t>
            </a:r>
            <a:r>
              <a:rPr lang="vi"/>
              <a:t>input</a:t>
            </a:r>
            <a:r>
              <a:rPr lang="vi"/>
              <a:t> queries. (binary classification)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Dataset: Taken from two datasets: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 9000 queries from: </a:t>
            </a:r>
            <a:r>
              <a:rPr lang="vi" u="sng">
                <a:solidFill>
                  <a:schemeClr val="hlink"/>
                </a:solidFill>
                <a:hlinkClick r:id="rId3"/>
              </a:rPr>
              <a:t>Vietnamese Legal Dataset</a:t>
            </a:r>
            <a:r>
              <a:rPr lang="vi"/>
              <a:t> (train dataset) (labelled as extract_laws)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10000 queries from: </a:t>
            </a:r>
            <a:r>
              <a:rPr lang="vi" u="sng">
                <a:solidFill>
                  <a:schemeClr val="hlink"/>
                </a:solidFill>
                <a:hlinkClick r:id="rId4"/>
              </a:rPr>
              <a:t>UIT ViQUAD2.0: dataset hỏi đáp tiếng Việt</a:t>
            </a:r>
            <a:r>
              <a:rPr lang="vi">
                <a:solidFill>
                  <a:schemeClr val="dk1"/>
                </a:solidFill>
              </a:rPr>
              <a:t> (train dataset) (labelled as documents)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The dataset contains total 19000 samples</a:t>
            </a:r>
            <a:endParaRPr/>
          </a:p>
        </p:txBody>
      </p:sp>
      <p:pic>
        <p:nvPicPr>
          <p:cNvPr id="244" name="Google Shape;24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3575" y="2307425"/>
            <a:ext cx="5478675" cy="2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7"/>
          <p:cNvSpPr txBox="1"/>
          <p:nvPr/>
        </p:nvSpPr>
        <p:spPr>
          <a:xfrm>
            <a:off x="4667813" y="4624450"/>
            <a:ext cx="3130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First 20 samples of dataset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8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51" name="Google Shape;251;p58"/>
          <p:cNvSpPr txBox="1"/>
          <p:nvPr/>
        </p:nvSpPr>
        <p:spPr>
          <a:xfrm>
            <a:off x="171750" y="706175"/>
            <a:ext cx="8972100" cy="26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2.2. Router by classifier based: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- Implementation: 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Embedding model: </a:t>
            </a:r>
            <a:r>
              <a:rPr b="1" lang="vi"/>
              <a:t>“intfloat/multilingual-e5-large”</a:t>
            </a:r>
            <a:r>
              <a:rPr lang="vi"/>
              <a:t> - 1024 dimension (same as vector database embedding)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Model architecture: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Fully connected layer 1 (fc1): 512 nodes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Fully connected layer 2 (fc2): 2 nodes</a:t>
            </a:r>
            <a:endParaRPr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Dropout rate: 0.3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=&gt; Model flow: embedding =&gt; fc1 =&gt; relu activation =&gt; dropout =&gt; fc2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Loss function: CrossEntrophyLoss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Optimizer: AdamW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=&gt; With the dataset, the classifier is trained through 20 epochs so that it is capable of classifying user’s query.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9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57" name="Google Shape;257;p59"/>
          <p:cNvSpPr txBox="1"/>
          <p:nvPr/>
        </p:nvSpPr>
        <p:spPr>
          <a:xfrm>
            <a:off x="165150" y="865125"/>
            <a:ext cx="88005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2.3. Router by prompt based selection: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chemeClr val="dk1"/>
                </a:solidFill>
              </a:rPr>
              <a:t>- Idea:</a:t>
            </a:r>
            <a:r>
              <a:rPr lang="vi">
                <a:solidFill>
                  <a:schemeClr val="dk1"/>
                </a:solidFill>
              </a:rPr>
              <a:t> Used LLM to select the route.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chemeClr val="dk1"/>
                </a:solidFill>
              </a:rPr>
              <a:t>- Implementation: Feed prompt into LLM so that it can generate corresponding routes: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58" name="Google Shape;25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75" y="1723713"/>
            <a:ext cx="8839199" cy="192762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9"/>
          <p:cNvSpPr txBox="1"/>
          <p:nvPr/>
        </p:nvSpPr>
        <p:spPr>
          <a:xfrm>
            <a:off x="464025" y="3767175"/>
            <a:ext cx="82293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Router by prompt based selection implementation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0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65" name="Google Shape;265;p60"/>
          <p:cNvSpPr txBox="1"/>
          <p:nvPr/>
        </p:nvSpPr>
        <p:spPr>
          <a:xfrm>
            <a:off x="165150" y="865125"/>
            <a:ext cx="8800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2.4. Router by embedding similarity: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- Idea: For each query, the vector is retrieved </a:t>
            </a:r>
            <a:r>
              <a:rPr b="1" lang="vi"/>
              <a:t>in both</a:t>
            </a:r>
            <a:r>
              <a:rPr b="1" lang="vi"/>
              <a:t> documents and laws index. The similarity score will decide the vector.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Implementation: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For each uploaded document, the content is chunked to 300 tokens, with stride of 50 tokens.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Build an IndexFlatL2 for chunked documents.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Vector is retrieved in both documents and laws index. The index having more </a:t>
            </a:r>
            <a:r>
              <a:rPr lang="vi"/>
              <a:t>similarity</a:t>
            </a:r>
            <a:r>
              <a:rPr lang="vi"/>
              <a:t> will be the </a:t>
            </a:r>
            <a:r>
              <a:rPr lang="vi"/>
              <a:t>router decision</a:t>
            </a:r>
            <a:r>
              <a:rPr lang="vi"/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1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sp>
        <p:nvSpPr>
          <p:cNvPr id="271" name="Google Shape;271;p61"/>
          <p:cNvSpPr txBox="1"/>
          <p:nvPr/>
        </p:nvSpPr>
        <p:spPr>
          <a:xfrm>
            <a:off x="165150" y="865125"/>
            <a:ext cx="88005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Evaluate: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- 1000 queries from: </a:t>
            </a:r>
            <a:r>
              <a:rPr lang="vi" u="sng">
                <a:solidFill>
                  <a:schemeClr val="hlink"/>
                </a:solidFill>
                <a:hlinkClick r:id="rId3"/>
              </a:rPr>
              <a:t>legal questions</a:t>
            </a:r>
            <a:r>
              <a:rPr lang="vi"/>
              <a:t> (test dataset)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- 1000 queries from: </a:t>
            </a:r>
            <a:r>
              <a:rPr lang="vi" u="sng">
                <a:solidFill>
                  <a:schemeClr val="hlink"/>
                </a:solidFill>
                <a:hlinkClick r:id="rId4"/>
              </a:rPr>
              <a:t>UIT ViQUAD2.0: dataset hỏi đáp tiếng Việt</a:t>
            </a:r>
            <a:r>
              <a:rPr lang="vi"/>
              <a:t> (test dataset)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- Metrics used: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Precision (TP/TP + FP) (per class)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Recall (TP/ TP + FN) (per class)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>
                <a:solidFill>
                  <a:schemeClr val="dk1"/>
                </a:solidFill>
              </a:rPr>
              <a:t>F1 (per class)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vi"/>
              <a:t>Accuracy (true classification/ total classification)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Updated Progress</a:t>
            </a:r>
            <a:endParaRPr/>
          </a:p>
        </p:txBody>
      </p:sp>
      <p:graphicFrame>
        <p:nvGraphicFramePr>
          <p:cNvPr id="277" name="Google Shape;277;p62"/>
          <p:cNvGraphicFramePr/>
          <p:nvPr/>
        </p:nvGraphicFramePr>
        <p:xfrm>
          <a:off x="0" y="167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{8F3CC54F-9BF7-4BD9-800E-20141BBD0593}</a:tableStyleId>
              </a:tblPr>
              <a:tblGrid>
                <a:gridCol w="2424100"/>
                <a:gridCol w="952500"/>
                <a:gridCol w="952500"/>
                <a:gridCol w="952500"/>
                <a:gridCol w="952500"/>
                <a:gridCol w="952500"/>
                <a:gridCol w="952500"/>
                <a:gridCol w="1004900"/>
              </a:tblGrid>
              <a:tr h="20002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Phương pháp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Accuracy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Documents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Extract laws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precision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recall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f1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precision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recall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f1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Matching based router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0.55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0.53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0.67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0.18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0.28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Classifier based router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Prompt based router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0.54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0.52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0.67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0.73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0.13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0.22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/>
                        <a:t>Embedding similarity router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1.00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1.00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/>
                        <a:t>0.98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3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Upcoming Work</a:t>
            </a:r>
            <a:endParaRPr/>
          </a:p>
        </p:txBody>
      </p:sp>
      <p:pic>
        <p:nvPicPr>
          <p:cNvPr id="283" name="Google Shape;28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525" y="4459345"/>
            <a:ext cx="2506475" cy="6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63"/>
          <p:cNvSpPr txBox="1"/>
          <p:nvPr/>
        </p:nvSpPr>
        <p:spPr>
          <a:xfrm>
            <a:off x="255675" y="857250"/>
            <a:ext cx="8692800" cy="3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- Transform to a multi-agent system: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Router Agent:</a:t>
            </a:r>
            <a:r>
              <a:rPr lang="vi" sz="1600"/>
              <a:t> define the types of queries.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Law Agent:</a:t>
            </a:r>
            <a:r>
              <a:rPr lang="vi" sz="1600"/>
              <a:t> answer users queries based on references laws.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Document Agent:</a:t>
            </a:r>
            <a:r>
              <a:rPr lang="vi" sz="1600"/>
              <a:t> answer users queries based on documents.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Verifier Agent: </a:t>
            </a:r>
            <a:r>
              <a:rPr lang="vi" sz="1600"/>
              <a:t>verifies</a:t>
            </a:r>
            <a:r>
              <a:rPr lang="vi" sz="1600"/>
              <a:t> </a:t>
            </a:r>
            <a:r>
              <a:rPr lang="vi" sz="1600"/>
              <a:t>outputs</a:t>
            </a:r>
            <a:r>
              <a:rPr lang="vi" sz="1600"/>
              <a:t> of others agent to give the final answer.</a:t>
            </a:r>
            <a:endParaRPr sz="1600"/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Reasoning Agent: reasoning the output of each agent.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=&gt; For each agent, I will try to fine-tune the LLM. If not, find the suitable Adapters in Hugging Face.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4"/>
          <p:cNvSpPr/>
          <p:nvPr/>
        </p:nvSpPr>
        <p:spPr>
          <a:xfrm>
            <a:off x="4317300" y="2118150"/>
            <a:ext cx="3852360" cy="72819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vi" sz="4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