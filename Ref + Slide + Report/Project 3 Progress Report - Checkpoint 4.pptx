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6"/>
    <p:sldMasterId id="2147483694" r:id="rId7"/>
    <p:sldMasterId id="2147483695" r:id="rId8"/>
    <p:sldMasterId id="2147483696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y="5143500" cx="9144000"/>
  <p:notesSz cx="6858000" cy="9144000"/>
  <p:embeddedFontLs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Quoc Trie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334F49-F390-439D-A92A-8A2AE2F339DD}">
  <a:tblStyle styleId="{23334F49-F390-439D-A92A-8A2AE2F339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AC18F1-179D-4306-B181-14E5C6C2519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4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font" Target="fonts/Lato-regular.fntdata"/><Relationship Id="rId27" Type="http://schemas.openxmlformats.org/officeDocument/2006/relationships/slide" Target="slides/slide17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Lato-bold.fntdata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9T14:45:18.532">
    <p:pos x="143" y="469"/>
    <p:text>gemini 2.5 flash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b10573b6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3b10573b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3ed10e50a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3ed10e5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55d699f9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a55d699f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3ed10e50a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b3ed10e50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3ed10e50a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b3ed10e5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3ed10e50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b3ed10e50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3ed10e50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b3ed10e50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3ed10e50a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3ed10e50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3ed10e50a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b3ed10e50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3ed10e50a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b3ed10e50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8be82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98be82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f7c2a7765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af7c2a77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confident-ai/deepeva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onfident-ai/deepeval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kaggle.com/datasets/quangbut/vietnamese-legal?select=sent_truncated_dvc_train.csv" TargetMode="External"/><Relationship Id="rId4" Type="http://schemas.openxmlformats.org/officeDocument/2006/relationships/hyperlink" Target="https://huggingface.co/datasets/taidng/UIT-ViQuAD2.0/viewer/default/train?views%5B%5D=trai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quangbut/vietnamese-legal?select=sent_truncated_dvc_train.csv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huggingface.co/datasets/thangvip/vietnamese-legal-q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uggingface.co/datasets/taidng/UIT-ViQuAD2.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611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Project 3: Law-based and document-based chatbot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3670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{23334F49-F390-439D-A92A-8A2AE2F339DD}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1556500"/>
            <a:ext cx="3022049" cy="30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28500" y="943550"/>
            <a:ext cx="8596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Problem </a:t>
            </a:r>
            <a:r>
              <a:rPr lang="vi" sz="2600"/>
              <a:t>Definition</a:t>
            </a:r>
            <a:r>
              <a:rPr lang="vi" sz="2600"/>
              <a:t> 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System Design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Updated Progress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4. Upcoming Work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5. Live Demo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System Design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28500" y="745525"/>
            <a:ext cx="8603400" cy="29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/>
              <a:t>Framework: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300">
                <a:solidFill>
                  <a:schemeClr val="dk1"/>
                </a:solidFill>
              </a:rPr>
              <a:t>- Vector Embedding: HuggingFace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300"/>
              <a:t>- Vector Database: FAISS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300">
                <a:solidFill>
                  <a:schemeClr val="dk1"/>
                </a:solidFill>
              </a:rPr>
              <a:t>- Document Extraction: PDFReader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300"/>
              <a:t>- LLM </a:t>
            </a:r>
            <a:r>
              <a:rPr lang="vi" sz="1300"/>
              <a:t>(API Used</a:t>
            </a:r>
            <a:r>
              <a:rPr lang="vi" sz="1300"/>
              <a:t>): LangChain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300"/>
              <a:t>- Multi-Agent System Building: </a:t>
            </a:r>
            <a:r>
              <a:rPr lang="vi" sz="1300"/>
              <a:t>LangGraph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219" name="Google Shape;219;p53" title="multi_agent_grap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974" y="629500"/>
            <a:ext cx="2774776" cy="41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25" name="Google Shape;225;p54"/>
          <p:cNvSpPr txBox="1"/>
          <p:nvPr/>
        </p:nvSpPr>
        <p:spPr>
          <a:xfrm>
            <a:off x="228500" y="706175"/>
            <a:ext cx="63756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</a:t>
            </a:r>
            <a:r>
              <a:rPr b="1" lang="vi"/>
              <a:t>Added two agents:</a:t>
            </a:r>
            <a:endParaRPr b="1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Verifier agents: </a:t>
            </a:r>
            <a:r>
              <a:rPr lang="vi"/>
              <a:t>Verify</a:t>
            </a:r>
            <a:r>
              <a:rPr lang="vi"/>
              <a:t> the answers (if it contains sensitive contents,...)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Reasoning</a:t>
            </a:r>
            <a:r>
              <a:rPr lang="vi"/>
              <a:t> agents: Explain the system’s </a:t>
            </a:r>
            <a:r>
              <a:rPr lang="vi"/>
              <a:t>response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</a:t>
            </a:r>
            <a:r>
              <a:rPr b="1" lang="vi"/>
              <a:t>Evaluated the system:</a:t>
            </a:r>
            <a:endParaRPr b="1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Agent Performance: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 u="sng">
                <a:solidFill>
                  <a:schemeClr val="hlink"/>
                </a:solidFill>
                <a:hlinkClick r:id="rId3"/>
              </a:rPr>
              <a:t>DeepEval Framework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/>
              <a:t>Precision, Recall, Mean Reciprocal Ranking,...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Agent Processing Time: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/>
              <a:t>Each Agent’s Average Processing Time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/>
              <a:t>Total System Processing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31" name="Google Shape;231;p55"/>
          <p:cNvSpPr txBox="1"/>
          <p:nvPr/>
        </p:nvSpPr>
        <p:spPr>
          <a:xfrm>
            <a:off x="228500" y="660100"/>
            <a:ext cx="87843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700" u="sng">
                <a:solidFill>
                  <a:schemeClr val="hlink"/>
                </a:solidFill>
                <a:hlinkClick r:id="rId3"/>
              </a:rPr>
              <a:t>DeepEval Framework</a:t>
            </a:r>
            <a:r>
              <a:rPr b="1" lang="vi" sz="1700"/>
              <a:t>:</a:t>
            </a:r>
            <a:endParaRPr b="1" sz="17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An open-source LLM evaluation framework, for evaluating and testing large-language model systems.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Used LLM-as-a-judge mechanism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Custom NLP Models for </a:t>
            </a:r>
            <a:r>
              <a:rPr lang="vi"/>
              <a:t>evaluation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Designed different metrics for each components in the system: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DAG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RAG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Agentic Metrics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Other metrics: Hallucination, Task Completion, etc.</a:t>
            </a:r>
            <a:endParaRPr/>
          </a:p>
        </p:txBody>
      </p:sp>
      <p:pic>
        <p:nvPicPr>
          <p:cNvPr id="232" name="Google Shape;23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9425" y="1421375"/>
            <a:ext cx="2667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38" name="Google Shape;238;p56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Router Agent: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Dataset to test: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1000 queries from: </a:t>
            </a:r>
            <a:r>
              <a:rPr lang="vi" u="sng">
                <a:solidFill>
                  <a:schemeClr val="hlink"/>
                </a:solidFill>
                <a:hlinkClick r:id="rId3"/>
              </a:rPr>
              <a:t>legal questions</a:t>
            </a:r>
            <a:r>
              <a:rPr lang="vi">
                <a:solidFill>
                  <a:schemeClr val="dk1"/>
                </a:solidFill>
              </a:rPr>
              <a:t> (test dataset)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1000 queries from: </a:t>
            </a:r>
            <a:r>
              <a:rPr lang="vi" u="sng">
                <a:solidFill>
                  <a:schemeClr val="hlink"/>
                </a:solidFill>
                <a:hlinkClick r:id="rId4"/>
              </a:rPr>
              <a:t>UIT ViQUAD2.0: dataset hỏi đáp tiếng Việt</a:t>
            </a:r>
            <a:r>
              <a:rPr lang="vi">
                <a:solidFill>
                  <a:schemeClr val="dk1"/>
                </a:solidFill>
              </a:rPr>
              <a:t> (test dataset)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dk1"/>
                </a:solidFill>
              </a:rPr>
              <a:t>- Metrics used: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Precision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Recall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F1 (per class)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Accuracy (true classification/ total classification)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7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graphicFrame>
        <p:nvGraphicFramePr>
          <p:cNvPr id="244" name="Google Shape;244;p57"/>
          <p:cNvGraphicFramePr/>
          <p:nvPr/>
        </p:nvGraphicFramePr>
        <p:xfrm>
          <a:off x="0" y="167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424100"/>
                <a:gridCol w="952500"/>
                <a:gridCol w="952500"/>
                <a:gridCol w="952500"/>
                <a:gridCol w="952500"/>
                <a:gridCol w="952500"/>
                <a:gridCol w="952500"/>
                <a:gridCol w="1004900"/>
              </a:tblGrid>
              <a:tr h="2000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Method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Documents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Extract laws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f1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f1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Matching based router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0.67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0.28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Classifier based router (in use)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0.99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0.99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Prompt based router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0.67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0.73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0.22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Embedding similarity router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0.98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1.00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0.98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1.00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0.98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8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50" name="Google Shape;250;p58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Generate SubQuery: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Dataset to test: </a:t>
            </a:r>
            <a:r>
              <a:rPr lang="vi"/>
              <a:t>(to generate the subqueries of the questions)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1000 queries from: </a:t>
            </a:r>
            <a:r>
              <a:rPr lang="vi" u="sng">
                <a:solidFill>
                  <a:schemeClr val="hlink"/>
                </a:solidFill>
                <a:hlinkClick r:id="rId3"/>
              </a:rPr>
              <a:t>legal questions</a:t>
            </a:r>
            <a:r>
              <a:rPr lang="vi">
                <a:solidFill>
                  <a:schemeClr val="dk1"/>
                </a:solidFill>
              </a:rPr>
              <a:t> (test dataset)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Metrics used: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Relevance (Cosine Similarity)</a:t>
            </a:r>
            <a:r>
              <a:rPr lang="vi">
                <a:solidFill>
                  <a:schemeClr val="dk1"/>
                </a:solidFill>
              </a:rPr>
              <a:t>: If the generated queries </a:t>
            </a:r>
            <a:r>
              <a:rPr b="1" i="1" lang="vi">
                <a:solidFill>
                  <a:schemeClr val="dk1"/>
                </a:solidFill>
              </a:rPr>
              <a:t>relate</a:t>
            </a:r>
            <a:r>
              <a:rPr lang="vi">
                <a:solidFill>
                  <a:schemeClr val="dk1"/>
                </a:solidFill>
              </a:rPr>
              <a:t> to the original queries.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Query Coverage (GEval Framework): Evaluate if the generated queries </a:t>
            </a:r>
            <a:r>
              <a:rPr b="1" i="1" lang="vi">
                <a:solidFill>
                  <a:schemeClr val="dk1"/>
                </a:solidFill>
              </a:rPr>
              <a:t>cover all aspects</a:t>
            </a:r>
            <a:r>
              <a:rPr lang="vi">
                <a:solidFill>
                  <a:schemeClr val="dk1"/>
                </a:solidFill>
              </a:rPr>
              <a:t> of original query (score range from 0 =&gt; 1)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51" name="Google Shape;251;p58"/>
          <p:cNvGraphicFramePr/>
          <p:nvPr/>
        </p:nvGraphicFramePr>
        <p:xfrm>
          <a:off x="2086975" y="335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015725"/>
                <a:gridCol w="1368200"/>
                <a:gridCol w="1759725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Generate Subquery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Note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Relevance (cosine similarity)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0.93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Run all 1000 samples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GEval score (query coverage)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Run 20 random samples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9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57" name="Google Shape;257;p59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Extract Laws Agent: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Dataset to test: </a:t>
            </a:r>
            <a:r>
              <a:rPr lang="vi"/>
              <a:t>(to generate the subqueries of the questions)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Metrics used: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Mean Reciprocal Ranking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Precision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Recall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Mean Precision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58" name="Google Shape;258;p59"/>
          <p:cNvGraphicFramePr/>
          <p:nvPr/>
        </p:nvGraphicFramePr>
        <p:xfrm>
          <a:off x="2086975" y="335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015725"/>
                <a:gridCol w="1368200"/>
                <a:gridCol w="1759725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Extract Laws Agent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Note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Mean Reciprocal Ranking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Precision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Recall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 Mean </a:t>
                      </a:r>
                      <a:r>
                        <a:rPr lang="vi" sz="10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0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64" name="Google Shape;264;p60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Laws Answer Agent: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Dataset to test: </a:t>
            </a:r>
            <a:r>
              <a:rPr lang="vi"/>
              <a:t>(to generate the subqueries of the questions)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5 random samples from</a:t>
            </a:r>
            <a:r>
              <a:rPr lang="vi">
                <a:solidFill>
                  <a:schemeClr val="dk1"/>
                </a:solidFill>
              </a:rPr>
              <a:t>: </a:t>
            </a:r>
            <a:r>
              <a:rPr lang="vi" u="sng">
                <a:solidFill>
                  <a:schemeClr val="hlink"/>
                </a:solidFill>
                <a:hlinkClick r:id="rId3"/>
              </a:rPr>
              <a:t>Vietnamese Legal QA - HuggingFace</a:t>
            </a:r>
            <a:r>
              <a:rPr lang="vi">
                <a:solidFill>
                  <a:schemeClr val="dk1"/>
                </a:solidFill>
              </a:rPr>
              <a:t> (test dataset)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laws_context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question</a:t>
            </a:r>
            <a:r>
              <a:rPr lang="vi">
                <a:solidFill>
                  <a:schemeClr val="dk1"/>
                </a:solidFill>
              </a:rPr>
              <a:t> - answer pairs </a:t>
            </a:r>
            <a:r>
              <a:rPr lang="vi">
                <a:solidFill>
                  <a:schemeClr val="dk1"/>
                </a:solidFill>
              </a:rPr>
              <a:t>(question - expected_output)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Metrics used (DeepEval):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Faithfulness</a:t>
            </a:r>
            <a:r>
              <a:rPr lang="vi">
                <a:solidFill>
                  <a:schemeClr val="dk1"/>
                </a:solidFill>
              </a:rPr>
              <a:t> metrics: if the generated output (actual_output) really matches with the laws_context.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Correctness metrics: if the generated output (acutal_output) </a:t>
            </a:r>
            <a:r>
              <a:rPr lang="vi">
                <a:solidFill>
                  <a:schemeClr val="dk1"/>
                </a:solidFill>
              </a:rPr>
              <a:t>matches</a:t>
            </a:r>
            <a:r>
              <a:rPr lang="vi">
                <a:solidFill>
                  <a:schemeClr val="dk1"/>
                </a:solidFill>
              </a:rPr>
              <a:t> with the expected_output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65" name="Google Shape;265;p60"/>
          <p:cNvGraphicFramePr/>
          <p:nvPr/>
        </p:nvGraphicFramePr>
        <p:xfrm>
          <a:off x="2651188" y="359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015725"/>
                <a:gridCol w="1368200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Laws Answer Agent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Faithfulness score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Correctness score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0.88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1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71" name="Google Shape;271;p61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Extract Docs Agent: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Dataset to test: </a:t>
            </a:r>
            <a:r>
              <a:rPr lang="vi"/>
              <a:t>(to generate the subqueries of the questions)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vi">
                <a:solidFill>
                  <a:schemeClr val="dk1"/>
                </a:solidFill>
              </a:rPr>
              <a:t>10</a:t>
            </a:r>
            <a:r>
              <a:rPr b="1" i="1" lang="vi">
                <a:solidFill>
                  <a:schemeClr val="dk1"/>
                </a:solidFill>
              </a:rPr>
              <a:t> question-answer pairs</a:t>
            </a:r>
            <a:r>
              <a:rPr lang="vi">
                <a:solidFill>
                  <a:schemeClr val="dk1"/>
                </a:solidFill>
              </a:rPr>
              <a:t> with context related to </a:t>
            </a:r>
            <a:r>
              <a:rPr b="1" i="1" lang="vi">
                <a:solidFill>
                  <a:schemeClr val="dk1"/>
                </a:solidFill>
              </a:rPr>
              <a:t>10 long, collected pdf-file</a:t>
            </a:r>
            <a:r>
              <a:rPr lang="vi">
                <a:solidFill>
                  <a:schemeClr val="dk1"/>
                </a:solidFill>
              </a:rPr>
              <a:t>s in multi-topics: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question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answer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list of pdf-files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Metrics used </a:t>
            </a:r>
            <a:r>
              <a:rPr b="1" lang="vi">
                <a:solidFill>
                  <a:schemeClr val="dk1"/>
                </a:solidFill>
              </a:rPr>
              <a:t>(DeepEval)</a:t>
            </a:r>
            <a:r>
              <a:rPr b="1" lang="vi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>
                <a:solidFill>
                  <a:schemeClr val="dk1"/>
                </a:solidFill>
              </a:rPr>
              <a:t>ContextualPrecisionMetric</a:t>
            </a:r>
            <a:r>
              <a:rPr b="1" lang="vi">
                <a:solidFill>
                  <a:schemeClr val="dk1"/>
                </a:solidFill>
              </a:rPr>
              <a:t>:</a:t>
            </a:r>
            <a:r>
              <a:rPr lang="vi">
                <a:solidFill>
                  <a:schemeClr val="dk1"/>
                </a:solidFill>
              </a:rPr>
              <a:t> the </a:t>
            </a:r>
            <a:r>
              <a:rPr b="1" i="1" lang="vi">
                <a:solidFill>
                  <a:schemeClr val="dk1"/>
                </a:solidFill>
              </a:rPr>
              <a:t>portion of information in the extracted context</a:t>
            </a:r>
            <a:r>
              <a:rPr lang="vi">
                <a:solidFill>
                  <a:schemeClr val="dk1"/>
                </a:solidFill>
              </a:rPr>
              <a:t> (from agent) that is actually used to get answer.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>
                <a:solidFill>
                  <a:schemeClr val="dk1"/>
                </a:solidFill>
              </a:rPr>
              <a:t>ContextualRecallMetrics:</a:t>
            </a:r>
            <a:r>
              <a:rPr lang="vi">
                <a:solidFill>
                  <a:schemeClr val="dk1"/>
                </a:solidFill>
              </a:rPr>
              <a:t> if all </a:t>
            </a:r>
            <a:r>
              <a:rPr b="1" i="1" lang="vi">
                <a:solidFill>
                  <a:schemeClr val="dk1"/>
                </a:solidFill>
              </a:rPr>
              <a:t>the answer’s information can be taken from extracted contex</a:t>
            </a:r>
            <a:r>
              <a:rPr lang="vi">
                <a:solidFill>
                  <a:schemeClr val="dk1"/>
                </a:solidFill>
              </a:rPr>
              <a:t>t (from agent)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72" name="Google Shape;272;p61"/>
          <p:cNvGraphicFramePr/>
          <p:nvPr/>
        </p:nvGraphicFramePr>
        <p:xfrm>
          <a:off x="2651175" y="386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015725"/>
                <a:gridCol w="1368200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Extract Docs </a:t>
                      </a:r>
                      <a:r>
                        <a:rPr b="1" lang="vi" sz="1100"/>
                        <a:t>Agent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Context_recall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solidFill>
                            <a:schemeClr val="dk1"/>
                          </a:solidFill>
                        </a:rPr>
                        <a:t>0.87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Context_precision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0.95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78" name="Google Shape;278;p62"/>
          <p:cNvSpPr txBox="1"/>
          <p:nvPr/>
        </p:nvSpPr>
        <p:spPr>
          <a:xfrm>
            <a:off x="172825" y="904950"/>
            <a:ext cx="8709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Docs</a:t>
            </a:r>
            <a:r>
              <a:rPr b="1" lang="vi" sz="1500"/>
              <a:t> Answer Agent: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Dataset to test: </a:t>
            </a:r>
            <a:r>
              <a:rPr lang="vi"/>
              <a:t>(to generate the subqueries of the questions)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10</a:t>
            </a:r>
            <a:r>
              <a:rPr lang="vi">
                <a:solidFill>
                  <a:schemeClr val="dk1"/>
                </a:solidFill>
              </a:rPr>
              <a:t> random samples from: </a:t>
            </a:r>
            <a:r>
              <a:rPr lang="vi" u="sng">
                <a:solidFill>
                  <a:schemeClr val="hlink"/>
                </a:solidFill>
                <a:hlinkClick r:id="rId3"/>
              </a:rPr>
              <a:t>UIT ViQUAD2.0: dataset hỏi đáp tiếng Việt</a:t>
            </a:r>
            <a:r>
              <a:rPr lang="vi">
                <a:solidFill>
                  <a:schemeClr val="dk1"/>
                </a:solidFill>
              </a:rPr>
              <a:t> (test dataset)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docs_context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vi">
                <a:solidFill>
                  <a:schemeClr val="dk1"/>
                </a:solidFill>
              </a:rPr>
              <a:t>question - answer pairs (question - expected_output)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Metrics used (DeepEval):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Faithfulness metrics: if the </a:t>
            </a:r>
            <a:r>
              <a:rPr b="1" i="1" lang="vi">
                <a:solidFill>
                  <a:schemeClr val="dk1"/>
                </a:solidFill>
              </a:rPr>
              <a:t>generated output</a:t>
            </a:r>
            <a:r>
              <a:rPr lang="vi">
                <a:solidFill>
                  <a:schemeClr val="dk1"/>
                </a:solidFill>
              </a:rPr>
              <a:t> (actual_output) really matches with the </a:t>
            </a:r>
            <a:r>
              <a:rPr b="1" i="1" lang="vi">
                <a:solidFill>
                  <a:schemeClr val="dk1"/>
                </a:solidFill>
              </a:rPr>
              <a:t>docs_context</a:t>
            </a:r>
            <a:r>
              <a:rPr lang="vi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Correctness metrics: if the </a:t>
            </a:r>
            <a:r>
              <a:rPr b="1" i="1" lang="vi">
                <a:solidFill>
                  <a:schemeClr val="dk1"/>
                </a:solidFill>
              </a:rPr>
              <a:t>generated output</a:t>
            </a:r>
            <a:r>
              <a:rPr lang="vi">
                <a:solidFill>
                  <a:schemeClr val="dk1"/>
                </a:solidFill>
              </a:rPr>
              <a:t> (acutal_output) matches with the </a:t>
            </a:r>
            <a:r>
              <a:rPr b="1" i="1" lang="vi">
                <a:solidFill>
                  <a:schemeClr val="dk1"/>
                </a:solidFill>
              </a:rPr>
              <a:t>expected_output.</a:t>
            </a:r>
            <a:endParaRPr b="1" i="1">
              <a:solidFill>
                <a:schemeClr val="dk1"/>
              </a:solidFill>
            </a:endParaRPr>
          </a:p>
        </p:txBody>
      </p:sp>
      <p:graphicFrame>
        <p:nvGraphicFramePr>
          <p:cNvPr id="279" name="Google Shape;279;p62"/>
          <p:cNvGraphicFramePr/>
          <p:nvPr/>
        </p:nvGraphicFramePr>
        <p:xfrm>
          <a:off x="2651188" y="359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2015725"/>
                <a:gridCol w="1368200"/>
              </a:tblGrid>
              <a:tr h="200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Docs</a:t>
                      </a:r>
                      <a:r>
                        <a:rPr b="1" lang="vi" sz="1100"/>
                        <a:t> Answer Agent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solidFill>
                            <a:schemeClr val="dk1"/>
                          </a:solidFill>
                        </a:rPr>
                        <a:t>Faithfulness score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Correctness score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0.34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 (Model Evaluation)</a:t>
            </a:r>
            <a:endParaRPr/>
          </a:p>
        </p:txBody>
      </p:sp>
      <p:sp>
        <p:nvSpPr>
          <p:cNvPr id="285" name="Google Shape;285;p63"/>
          <p:cNvSpPr txBox="1"/>
          <p:nvPr/>
        </p:nvSpPr>
        <p:spPr>
          <a:xfrm>
            <a:off x="172825" y="904950"/>
            <a:ext cx="870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/>
              <a:t>Average time’s Processing within each agent:</a:t>
            </a:r>
            <a:endParaRPr b="1" sz="1500"/>
          </a:p>
        </p:txBody>
      </p:sp>
      <p:graphicFrame>
        <p:nvGraphicFramePr>
          <p:cNvPr id="286" name="Google Shape;286;p63"/>
          <p:cNvGraphicFramePr/>
          <p:nvPr/>
        </p:nvGraphicFramePr>
        <p:xfrm>
          <a:off x="180638" y="17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{24AC18F1-179D-4306-B181-14E5C6C2519C}</a:tableStyleId>
              </a:tblPr>
              <a:tblGrid>
                <a:gridCol w="4541575"/>
                <a:gridCol w="41677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600"/>
                        <a:t>Agent </a:t>
                      </a:r>
                      <a:endParaRPr b="1" sz="16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" sz="1600">
                          <a:solidFill>
                            <a:schemeClr val="dk1"/>
                          </a:solidFill>
                        </a:rPr>
                        <a:t>Average Processing Time</a:t>
                      </a:r>
                      <a:endParaRPr b="1" sz="16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Router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0.04s/query</a:t>
                      </a:r>
                      <a:r>
                        <a:rPr b="1" lang="vi" sz="1500">
                          <a:solidFill>
                            <a:schemeClr val="dk1"/>
                          </a:solidFill>
                        </a:rPr>
                        <a:t>*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Generate Subqueries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4.64s/query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Extract Laws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0.28s/query</a:t>
                      </a:r>
                      <a:r>
                        <a:rPr b="1" lang="vi" sz="1500"/>
                        <a:t>*</a:t>
                      </a:r>
                      <a:endParaRPr b="1" sz="15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Laws Answer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6.99s/query</a:t>
                      </a:r>
                      <a:endParaRPr b="1" sz="16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Extract Docs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0.16s/query</a:t>
                      </a:r>
                      <a:r>
                        <a:rPr b="1" lang="vi" sz="1600">
                          <a:solidFill>
                            <a:schemeClr val="dk1"/>
                          </a:solidFill>
                        </a:rPr>
                        <a:t>*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200"/>
                        <a:t>Docs Answer Agent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2.20s/query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63"/>
          <p:cNvSpPr txBox="1"/>
          <p:nvPr/>
        </p:nvSpPr>
        <p:spPr>
          <a:xfrm>
            <a:off x="172825" y="3806575"/>
            <a:ext cx="876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000">
                <a:solidFill>
                  <a:schemeClr val="dk1"/>
                </a:solidFill>
              </a:rPr>
              <a:t>*</a:t>
            </a:r>
            <a:r>
              <a:rPr lang="vi" sz="1200">
                <a:solidFill>
                  <a:schemeClr val="dk1"/>
                </a:solidFill>
              </a:rPr>
              <a:t>: </a:t>
            </a:r>
            <a:r>
              <a:rPr lang="vi" sz="1200">
                <a:solidFill>
                  <a:schemeClr val="dk1"/>
                </a:solidFill>
              </a:rPr>
              <a:t>Not include the first query (need to initialize the model or the index from .index file or uploaded files =&gt; cache mechanism for next queries)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Upcoming Work</a:t>
            </a:r>
            <a:endParaRPr/>
          </a:p>
        </p:txBody>
      </p:sp>
      <p:pic>
        <p:nvPicPr>
          <p:cNvPr id="293" name="Google Shape;29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5"/>
          <p:cNvSpPr txBox="1"/>
          <p:nvPr>
            <p:ph type="title"/>
          </p:nvPr>
        </p:nvSpPr>
        <p:spPr>
          <a:xfrm>
            <a:off x="237449" y="2181350"/>
            <a:ext cx="86691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4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4. Live Demo</a:t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99" name="Google Shape;29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6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