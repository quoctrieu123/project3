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  <p:sldMasterId id="2147483695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5143500" cx="9144000"/>
  <p:notesSz cx="6858000" cy="9144000"/>
  <p:embeddedFontLs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7F3EFF-B973-456F-8F21-4A3A10675F0F}">
  <a:tblStyle styleId="{217F3EFF-B973-456F-8F21-4A3A10675F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b10573b6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3b10573b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55d699f9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a55d699f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f7c2a776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af7c2a77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f7c2a7765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af7c2a77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f7c2a7765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af7c2a776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f7c2a776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af7c2a776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f7c2a7765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af7c2a77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f7c2a7765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af7c2a776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8be82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98be82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f7c2a7765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af7c2a77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611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Project 3: Law-based and document-based chatbot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3670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{217F3EFF-B973-456F-8F21-4A3A10675F0F}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1556500"/>
            <a:ext cx="3022049" cy="30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28500" y="943550"/>
            <a:ext cx="8596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Topic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Updated Progress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Upcoming Work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4. Live Demo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28500" y="1006525"/>
            <a:ext cx="8603400" cy="29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800"/>
              <a:t>Purpose: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U</a:t>
            </a:r>
            <a:r>
              <a:rPr lang="vi" sz="1800"/>
              <a:t>se of multi-agent system for helping answer user queries.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Two specific tasks: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references laws.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a document.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vi" sz="1800"/>
              <a:t>- Build the interactive interface that user can communicate with the chatbot.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24" name="Google Shape;224;p54"/>
          <p:cNvSpPr txBox="1"/>
          <p:nvPr/>
        </p:nvSpPr>
        <p:spPr>
          <a:xfrm>
            <a:off x="195875" y="1323000"/>
            <a:ext cx="4540800" cy="24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Overall progress:</a:t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Transform from 1 agent system in Langchain to multi-agent system in </a:t>
            </a:r>
            <a:r>
              <a:rPr lang="vi"/>
              <a:t>Lang Graph.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Simulate this multi-agent system to see their behaviour.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Multi-agent system has memory for previous messages.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Ready to scale into more robust and reasoning system =&gt; build the completed framework, get evaluation metrics as required.</a:t>
            </a:r>
            <a:endParaRPr/>
          </a:p>
        </p:txBody>
      </p:sp>
      <p:pic>
        <p:nvPicPr>
          <p:cNvPr id="225" name="Google Shape;225;p54" title="multi_agent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700" y="643625"/>
            <a:ext cx="2962441" cy="41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31" name="Google Shape;231;p55"/>
          <p:cNvSpPr txBox="1"/>
          <p:nvPr/>
        </p:nvSpPr>
        <p:spPr>
          <a:xfrm>
            <a:off x="172825" y="904938"/>
            <a:ext cx="44871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Agent Used in the system:</a:t>
            </a:r>
            <a:endParaRPr b="1" sz="15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Router Agent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Generate Subqueries Agent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Retrieve Laws Agent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Extract and Retrieve Docs Agent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Documents Answer Agent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Laws Answer Agent</a:t>
            </a:r>
            <a:endParaRPr/>
          </a:p>
        </p:txBody>
      </p:sp>
      <p:pic>
        <p:nvPicPr>
          <p:cNvPr id="232" name="Google Shape;232;p55" title="multi_agent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700" y="643625"/>
            <a:ext cx="2962441" cy="41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38" name="Google Shape;238;p56"/>
          <p:cNvSpPr txBox="1"/>
          <p:nvPr/>
        </p:nvSpPr>
        <p:spPr>
          <a:xfrm>
            <a:off x="148700" y="826725"/>
            <a:ext cx="54171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2.1. Router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Route the query to suitable agent (documents or extract laws).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Trained Neural Network model (as stated in the last report) (classifier-based router).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Human Message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Suitable route.</a:t>
            </a:r>
            <a:endParaRPr/>
          </a:p>
        </p:txBody>
      </p:sp>
      <p:pic>
        <p:nvPicPr>
          <p:cNvPr id="239" name="Google Shape;23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7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45" name="Google Shape;245;p57"/>
          <p:cNvSpPr txBox="1"/>
          <p:nvPr/>
        </p:nvSpPr>
        <p:spPr>
          <a:xfrm>
            <a:off x="148700" y="826725"/>
            <a:ext cx="54171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2.2. Generate subqueries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Generate the subqueries from the user’s query for more comprehensive retriever and answer.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</a:t>
            </a:r>
            <a:r>
              <a:rPr lang="vi" sz="1500"/>
              <a:t>Human Message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</a:t>
            </a:r>
            <a:r>
              <a:rPr lang="vi" sz="1500"/>
              <a:t>the generated subqueries.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Send the output to Retrieve Laws Agent for comprehensive retriever.</a:t>
            </a:r>
            <a:endParaRPr/>
          </a:p>
        </p:txBody>
      </p:sp>
      <p:pic>
        <p:nvPicPr>
          <p:cNvPr id="246" name="Google Shape;24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8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52" name="Google Shape;252;p58"/>
          <p:cNvSpPr txBox="1"/>
          <p:nvPr/>
        </p:nvSpPr>
        <p:spPr>
          <a:xfrm>
            <a:off x="148700" y="826725"/>
            <a:ext cx="54171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2.3. </a:t>
            </a:r>
            <a:r>
              <a:rPr b="1" lang="vi" sz="1500"/>
              <a:t>Retrieve Laws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Retrieve relevant laws from user and generated queries.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List of queries.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List of </a:t>
            </a:r>
            <a:r>
              <a:rPr lang="vi" sz="1500"/>
              <a:t>relevant laws in vector database.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Send the output to Laws Answer Agent to provide </a:t>
            </a:r>
            <a:r>
              <a:rPr lang="vi" sz="1500"/>
              <a:t>context</a:t>
            </a:r>
            <a:r>
              <a:rPr lang="vi" sz="1500"/>
              <a:t> for the final answer.</a:t>
            </a:r>
            <a:endParaRPr/>
          </a:p>
        </p:txBody>
      </p:sp>
      <p:pic>
        <p:nvPicPr>
          <p:cNvPr id="253" name="Google Shape;2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59" name="Google Shape;259;p59"/>
          <p:cNvSpPr txBox="1"/>
          <p:nvPr/>
        </p:nvSpPr>
        <p:spPr>
          <a:xfrm>
            <a:off x="148700" y="826725"/>
            <a:ext cx="54171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2.4. Laws Answer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Generate the final answer based on </a:t>
            </a:r>
            <a:r>
              <a:rPr lang="vi" sz="1500"/>
              <a:t>provided context from Laws Answer Agent.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HumanMessage and context from Retrieve Laws Agent.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Final answer to human</a:t>
            </a:r>
            <a:endParaRPr/>
          </a:p>
        </p:txBody>
      </p:sp>
      <p:pic>
        <p:nvPicPr>
          <p:cNvPr id="260" name="Google Shape;26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0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66" name="Google Shape;266;p60"/>
          <p:cNvSpPr txBox="1"/>
          <p:nvPr/>
        </p:nvSpPr>
        <p:spPr>
          <a:xfrm>
            <a:off x="148700" y="826725"/>
            <a:ext cx="52557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2.5. Extract and Retrieve Docs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Extract the content from PDF files. Afterwards, retrieve relevant information with the user’s query.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HumanMessage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docs_context (information in the documents relating to the user’s query)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Send output to Document Answer Agent for final answer.</a:t>
            </a:r>
            <a:endParaRPr/>
          </a:p>
        </p:txBody>
      </p:sp>
      <p:pic>
        <p:nvPicPr>
          <p:cNvPr id="267" name="Google Shape;26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1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73" name="Google Shape;273;p61"/>
          <p:cNvSpPr txBox="1"/>
          <p:nvPr/>
        </p:nvSpPr>
        <p:spPr>
          <a:xfrm>
            <a:off x="148700" y="826725"/>
            <a:ext cx="52557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2.6. Documents Answer Agent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Task: </a:t>
            </a:r>
            <a:r>
              <a:rPr lang="vi" sz="1500">
                <a:solidFill>
                  <a:schemeClr val="dk1"/>
                </a:solidFill>
              </a:rPr>
              <a:t>Generate the final answer based on provided context from Extract Docs Agent.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Implementation: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Input: HumanMessage and context from Extract Docs Agent.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Output: docs_context (information in the documents relating to the user’s query)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vi" sz="1500"/>
              <a:t>Provide final </a:t>
            </a:r>
            <a:r>
              <a:rPr lang="vi" sz="1500"/>
              <a:t>answer</a:t>
            </a:r>
            <a:r>
              <a:rPr lang="vi" sz="1500"/>
              <a:t> to human query.</a:t>
            </a:r>
            <a:endParaRPr/>
          </a:p>
        </p:txBody>
      </p:sp>
      <p:pic>
        <p:nvPicPr>
          <p:cNvPr id="274" name="Google Shape;2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Upcoming Work</a:t>
            </a:r>
            <a:endParaRPr/>
          </a:p>
        </p:txBody>
      </p:sp>
      <p:pic>
        <p:nvPicPr>
          <p:cNvPr id="280" name="Google Shape;2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2"/>
          <p:cNvSpPr txBox="1"/>
          <p:nvPr/>
        </p:nvSpPr>
        <p:spPr>
          <a:xfrm>
            <a:off x="255675" y="857250"/>
            <a:ext cx="50874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Add verifier and reasoning agents to the system: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Verifier Agent: </a:t>
            </a:r>
            <a:r>
              <a:rPr lang="vi" sz="1600"/>
              <a:t>put at the end of the </a:t>
            </a:r>
            <a:r>
              <a:rPr lang="vi" sz="1600"/>
              <a:t>graph,</a:t>
            </a:r>
            <a:r>
              <a:rPr lang="vi" sz="1600"/>
              <a:t> to </a:t>
            </a:r>
            <a:r>
              <a:rPr lang="vi" sz="1600"/>
              <a:t>verifies</a:t>
            </a:r>
            <a:r>
              <a:rPr lang="vi" sz="1600"/>
              <a:t> </a:t>
            </a:r>
            <a:r>
              <a:rPr lang="vi" sz="1600"/>
              <a:t>outputs</a:t>
            </a:r>
            <a:r>
              <a:rPr lang="vi" sz="1600"/>
              <a:t> of others agent to give the final answer.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Reasoning Agent: </a:t>
            </a:r>
            <a:r>
              <a:rPr lang="vi" sz="1600"/>
              <a:t>summarizing all the things that system has done to generate final answer (routing, generate sub-queries, retrievers, ….) =&gt; reasoning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Build the completed framework of the system.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Evaluate the model performance based on different metrics.</a:t>
            </a:r>
            <a:endParaRPr sz="1600"/>
          </a:p>
        </p:txBody>
      </p:sp>
      <p:pic>
        <p:nvPicPr>
          <p:cNvPr id="282" name="Google Shape;28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4525" y="628025"/>
            <a:ext cx="3561125" cy="41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3"/>
          <p:cNvSpPr txBox="1"/>
          <p:nvPr>
            <p:ph type="title"/>
          </p:nvPr>
        </p:nvSpPr>
        <p:spPr>
          <a:xfrm>
            <a:off x="237449" y="2181350"/>
            <a:ext cx="86691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4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Live Demo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88" name="Google Shape;28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4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